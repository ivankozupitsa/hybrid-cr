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7" r:id="rId7"/>
    <p:sldId id="268" r:id="rId8"/>
    <p:sldId id="269" r:id="rId9"/>
    <p:sldId id="270" r:id="rId10"/>
    <p:sldId id="271" r:id="rId11"/>
    <p:sldId id="272" r:id="rId12"/>
    <p:sldId id="304" r:id="rId13"/>
    <p:sldId id="273" r:id="rId14"/>
    <p:sldId id="274" r:id="rId15"/>
    <p:sldId id="275" r:id="rId16"/>
    <p:sldId id="276" r:id="rId17"/>
    <p:sldId id="277" r:id="rId18"/>
    <p:sldId id="305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307" r:id="rId30"/>
    <p:sldId id="288" r:id="rId31"/>
    <p:sldId id="289" r:id="rId32"/>
    <p:sldId id="290" r:id="rId33"/>
    <p:sldId id="291" r:id="rId34"/>
    <p:sldId id="292" r:id="rId35"/>
    <p:sldId id="303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6" r:id="rId44"/>
    <p:sldId id="300" r:id="rId45"/>
    <p:sldId id="301" r:id="rId46"/>
    <p:sldId id="302" r:id="rId47"/>
    <p:sldId id="260" r:id="rId48"/>
    <p:sldId id="261" r:id="rId49"/>
    <p:sldId id="262" r:id="rId50"/>
    <p:sldId id="263" r:id="rId51"/>
    <p:sldId id="264" r:id="rId52"/>
    <p:sldId id="265" r:id="rId5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78" y="-7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7544" y="908720"/>
            <a:ext cx="7772400" cy="1470025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Анализ совместного функционирования радиосистем в одной полосе частот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57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87" y="0"/>
            <a:ext cx="8546541" cy="1143000"/>
          </a:xfrm>
        </p:spPr>
        <p:txBody>
          <a:bodyPr/>
          <a:lstStyle/>
          <a:p>
            <a:pPr algn="l"/>
            <a:r>
              <a:rPr lang="ru-RU" dirty="0"/>
              <a:t>Схема радиолинии</a:t>
            </a:r>
            <a:endParaRPr lang="ru-RU" dirty="0"/>
          </a:p>
        </p:txBody>
      </p:sp>
      <p:pic>
        <p:nvPicPr>
          <p:cNvPr id="6" name="Объект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44" y="1484784"/>
            <a:ext cx="8229600" cy="29168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flipH="1">
            <a:off x="6587" y="4365104"/>
            <a:ext cx="83792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Обозначения: </a:t>
            </a:r>
            <a:r>
              <a:rPr lang="ru-RU" dirty="0"/>
              <a:t>ИИ – источник информации</a:t>
            </a:r>
          </a:p>
          <a:p>
            <a:r>
              <a:rPr lang="ru-RU" dirty="0" smtClean="0"/>
              <a:t>	          ПК </a:t>
            </a:r>
            <a:r>
              <a:rPr lang="ru-RU" dirty="0"/>
              <a:t>– помехоустойчивый кодер</a:t>
            </a:r>
          </a:p>
          <a:p>
            <a:r>
              <a:rPr lang="ru-RU" dirty="0" smtClean="0"/>
              <a:t>	          М </a:t>
            </a:r>
            <a:r>
              <a:rPr lang="ru-RU" dirty="0"/>
              <a:t>– модулятор </a:t>
            </a:r>
            <a:r>
              <a:rPr lang="en-US" dirty="0"/>
              <a:t>c</a:t>
            </a:r>
            <a:r>
              <a:rPr lang="ru-RU" dirty="0"/>
              <a:t> манипуляцией </a:t>
            </a:r>
            <a:r>
              <a:rPr lang="en-US" dirty="0"/>
              <a:t>QAM </a:t>
            </a:r>
            <a:endParaRPr lang="ru-RU" dirty="0"/>
          </a:p>
          <a:p>
            <a:r>
              <a:rPr lang="ru-RU" dirty="0" smtClean="0"/>
              <a:t>	          ФКПК </a:t>
            </a:r>
            <a:r>
              <a:rPr lang="ru-RU" dirty="0"/>
              <a:t>– фильтр корня приподнятого косинуса</a:t>
            </a:r>
          </a:p>
          <a:p>
            <a:r>
              <a:rPr lang="ru-RU" dirty="0" smtClean="0"/>
              <a:t>	          КМ </a:t>
            </a:r>
            <a:r>
              <a:rPr lang="ru-RU" dirty="0"/>
              <a:t>– квадратурный модулятор/ блок переноса по частоте</a:t>
            </a:r>
          </a:p>
          <a:p>
            <a:r>
              <a:rPr lang="ru-RU" dirty="0" smtClean="0"/>
              <a:t>	          ДМ </a:t>
            </a:r>
            <a:r>
              <a:rPr lang="ru-RU" dirty="0"/>
              <a:t>– квадратурный демодулятор</a:t>
            </a:r>
          </a:p>
          <a:p>
            <a:r>
              <a:rPr lang="ru-RU" dirty="0" smtClean="0"/>
              <a:t>	          ПДК </a:t>
            </a:r>
            <a:r>
              <a:rPr lang="ru-RU" dirty="0"/>
              <a:t>– помехоустойчивый декодер</a:t>
            </a:r>
          </a:p>
          <a:p>
            <a:r>
              <a:rPr lang="ru-RU" dirty="0" smtClean="0"/>
              <a:t>	          </a:t>
            </a:r>
            <a:r>
              <a:rPr lang="en-US" dirty="0" smtClean="0"/>
              <a:t>BER</a:t>
            </a:r>
            <a:r>
              <a:rPr lang="ru-RU" dirty="0" smtClean="0"/>
              <a:t> </a:t>
            </a:r>
            <a:r>
              <a:rPr lang="ru-RU" dirty="0"/>
              <a:t>– схема вычисления частоты битовых </a:t>
            </a:r>
            <a:r>
              <a:rPr lang="ru-RU" dirty="0" smtClean="0"/>
              <a:t>ошибок</a:t>
            </a:r>
          </a:p>
          <a:p>
            <a:r>
              <a:rPr lang="ru-RU" dirty="0" smtClean="0"/>
              <a:t>	          ИШ </a:t>
            </a:r>
            <a:r>
              <a:rPr lang="ru-RU" dirty="0"/>
              <a:t>– эквивалентный источник шумов и помех</a:t>
            </a:r>
          </a:p>
          <a:p>
            <a:endParaRPr lang="ru-RU" dirty="0"/>
          </a:p>
          <a:p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874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6078"/>
            <a:ext cx="8579296" cy="1143000"/>
          </a:xfrm>
        </p:spPr>
        <p:txBody>
          <a:bodyPr/>
          <a:lstStyle/>
          <a:p>
            <a:pPr algn="l"/>
            <a:r>
              <a:rPr lang="ru-RU" dirty="0" smtClean="0"/>
              <a:t>Цель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i="1" dirty="0"/>
              <a:t>Целью исследования</a:t>
            </a:r>
            <a:r>
              <a:rPr lang="ru-RU" dirty="0"/>
              <a:t> модели является: настройка начальных параметров системы для дальнейшего использования как фундамента для системы Когнитивного радио, анализ поведения системы при изменении таких параметров как: </a:t>
            </a:r>
            <a:r>
              <a:rPr lang="ru-RU" dirty="0" smtClean="0"/>
              <a:t>уровень </a:t>
            </a:r>
            <a:r>
              <a:rPr lang="ru-RU" dirty="0"/>
              <a:t>шумов в канале, количество одновременно работающих каналов, наличие или отсутствие помехоустойчивого </a:t>
            </a:r>
            <a:r>
              <a:rPr lang="ru-RU" dirty="0" smtClean="0"/>
              <a:t>кодирования, </a:t>
            </a:r>
            <a:r>
              <a:rPr lang="ru-RU" dirty="0"/>
              <a:t>близость центральных частот каналов, </a:t>
            </a:r>
            <a:r>
              <a:rPr lang="ru-RU" dirty="0" smtClean="0"/>
              <a:t>а так же непосредственно параметров схемы.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002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3538" y="-21032"/>
            <a:ext cx="9144000" cy="1143000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Начальные параметры системы: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129825"/>
            <a:ext cx="93610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Количество символов на выходе ИИ = 2</a:t>
            </a:r>
            <a:r>
              <a:rPr lang="en-US" sz="2400" dirty="0" smtClean="0"/>
              <a:t>^1</a:t>
            </a:r>
            <a:r>
              <a:rPr lang="ru-RU" sz="2400" dirty="0"/>
              <a:t>4=16 </a:t>
            </a:r>
            <a:r>
              <a:rPr lang="ru-RU" sz="2400" dirty="0" smtClean="0"/>
              <a:t>384</a:t>
            </a:r>
          </a:p>
          <a:p>
            <a:r>
              <a:rPr lang="ru-RU" sz="2400" dirty="0" smtClean="0"/>
              <a:t>Длина фильтра в символах = 2</a:t>
            </a:r>
            <a:r>
              <a:rPr lang="en-US" sz="2400" dirty="0" smtClean="0"/>
              <a:t>^11=2048</a:t>
            </a:r>
          </a:p>
          <a:p>
            <a:r>
              <a:rPr lang="ru-RU" sz="2400" dirty="0" smtClean="0"/>
              <a:t>Коэффициент сглаживания ФКПК = 0.1</a:t>
            </a:r>
          </a:p>
          <a:p>
            <a:r>
              <a:rPr lang="ru-RU" sz="2400" dirty="0" smtClean="0"/>
              <a:t>Количество выборок на символ</a:t>
            </a:r>
            <a:r>
              <a:rPr lang="en-US" sz="2400" dirty="0" smtClean="0"/>
              <a:t>/</a:t>
            </a:r>
            <a:r>
              <a:rPr lang="ru-RU" sz="2400" dirty="0" smtClean="0"/>
              <a:t>частота дискретизации = 16</a:t>
            </a:r>
          </a:p>
          <a:p>
            <a:r>
              <a:rPr lang="ru-RU" sz="2400" dirty="0" smtClean="0"/>
              <a:t>Количество каналов</a:t>
            </a:r>
            <a:r>
              <a:rPr lang="en-US" sz="2400" dirty="0" smtClean="0"/>
              <a:t> </a:t>
            </a:r>
            <a:r>
              <a:rPr lang="en-US" sz="2400" dirty="0" err="1" smtClean="0"/>
              <a:t>sps</a:t>
            </a:r>
            <a:r>
              <a:rPr lang="ru-RU" sz="2400" dirty="0" smtClean="0"/>
              <a:t>: 1</a:t>
            </a:r>
            <a:r>
              <a:rPr lang="ru-RU" sz="2400" dirty="0"/>
              <a:t> </a:t>
            </a:r>
            <a:r>
              <a:rPr lang="ru-RU" sz="2400" dirty="0" smtClean="0"/>
              <a:t>или 2</a:t>
            </a:r>
          </a:p>
          <a:p>
            <a:r>
              <a:rPr lang="ru-RU" sz="2400" dirty="0" smtClean="0"/>
              <a:t>Относительные частоты каналов = </a:t>
            </a:r>
            <a:r>
              <a:rPr lang="en-US" sz="2400" dirty="0" smtClean="0"/>
              <a:t>(</a:t>
            </a:r>
            <a:r>
              <a:rPr lang="ru-RU" sz="2400" dirty="0" smtClean="0"/>
              <a:t>0.2</a:t>
            </a:r>
            <a:r>
              <a:rPr lang="en-US" sz="2400" dirty="0" smtClean="0"/>
              <a:t>|</a:t>
            </a:r>
            <a:r>
              <a:rPr lang="ru-RU" sz="2400" dirty="0" smtClean="0"/>
              <a:t>0.7)*</a:t>
            </a:r>
            <a:r>
              <a:rPr lang="en-US" sz="2400" dirty="0" err="1" smtClean="0"/>
              <a:t>sps</a:t>
            </a:r>
            <a:endParaRPr lang="ru-RU" sz="2400" dirty="0" smtClean="0"/>
          </a:p>
          <a:p>
            <a:r>
              <a:rPr lang="ru-RU" sz="2400" dirty="0"/>
              <a:t>Наличие комбинационных </a:t>
            </a:r>
            <a:r>
              <a:rPr lang="ru-RU" sz="2400" dirty="0" err="1" smtClean="0"/>
              <a:t>составляюхих</a:t>
            </a:r>
            <a:r>
              <a:rPr lang="ru-RU" sz="2400" dirty="0" smtClean="0"/>
              <a:t> (если 2 канала) </a:t>
            </a:r>
            <a:r>
              <a:rPr lang="ru-RU" sz="2400" dirty="0"/>
              <a:t>вплоть до 3 </a:t>
            </a:r>
            <a:r>
              <a:rPr lang="ru-RU" sz="2400" dirty="0" smtClean="0"/>
              <a:t>порядка</a:t>
            </a:r>
            <a:endParaRPr lang="en-US" sz="2400" dirty="0" smtClean="0"/>
          </a:p>
          <a:p>
            <a:r>
              <a:rPr lang="ru-RU" sz="2400" dirty="0" smtClean="0"/>
              <a:t>Относительная скорость кода = 2</a:t>
            </a:r>
            <a:r>
              <a:rPr lang="en-US" sz="2400" dirty="0" smtClean="0"/>
              <a:t>/3</a:t>
            </a:r>
            <a:endParaRPr lang="ru-RU" sz="2400" dirty="0" smtClean="0"/>
          </a:p>
          <a:p>
            <a:r>
              <a:rPr lang="ru-RU" sz="2400" dirty="0" smtClean="0"/>
              <a:t>Глубина модуляции = 16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8505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252520" cy="764704"/>
          </a:xfrm>
        </p:spPr>
        <p:txBody>
          <a:bodyPr>
            <a:noAutofit/>
          </a:bodyPr>
          <a:lstStyle/>
          <a:p>
            <a:pPr algn="l"/>
            <a:r>
              <a:rPr lang="ru-RU" sz="3200" dirty="0" smtClean="0"/>
              <a:t>Анализ модели: </a:t>
            </a:r>
            <a:r>
              <a:rPr lang="ru-RU" sz="3200" dirty="0"/>
              <a:t>с начальными </a:t>
            </a:r>
            <a:r>
              <a:rPr lang="ru-RU" sz="3200" dirty="0" smtClean="0"/>
              <a:t>параметрами, один канал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16974"/>
            <a:ext cx="4535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r>
              <a:rPr lang="ru-RU" dirty="0" smtClean="0"/>
              <a:t> принимаемых бит ФКПК в 2 раза (</a:t>
            </a:r>
            <a:r>
              <a:rPr lang="ru-RU" dirty="0"/>
              <a:t>число выборок равно </a:t>
            </a:r>
            <a:r>
              <a:rPr lang="ru-RU" dirty="0" smtClean="0"/>
              <a:t>32</a:t>
            </a:r>
            <a:r>
              <a:rPr lang="en-US" dirty="0" smtClean="0"/>
              <a:t> </a:t>
            </a:r>
            <a:r>
              <a:rPr lang="ru-RU" dirty="0"/>
              <a:t>на </a:t>
            </a:r>
            <a:r>
              <a:rPr lang="ru-RU" dirty="0" smtClean="0"/>
              <a:t>символ)</a:t>
            </a:r>
            <a:endParaRPr lang="ru-RU" dirty="0"/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27077" y="724359"/>
            <a:ext cx="4535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r>
              <a:rPr lang="ru-RU" dirty="0" smtClean="0"/>
              <a:t> бит ФКПК, число выборок равно </a:t>
            </a:r>
            <a:r>
              <a:rPr lang="en-US" dirty="0" smtClean="0"/>
              <a:t>16 </a:t>
            </a:r>
            <a:r>
              <a:rPr lang="ru-RU" dirty="0" smtClean="0"/>
              <a:t>на символ</a:t>
            </a:r>
            <a:endParaRPr lang="ru-RU" dirty="0"/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620034"/>
            <a:ext cx="4535530" cy="2601053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-1" y="4221087"/>
            <a:ext cx="4535531" cy="2670105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4"/>
          <a:stretch>
            <a:fillRect/>
          </a:stretch>
        </p:blipFill>
        <p:spPr>
          <a:xfrm>
            <a:off x="4426170" y="1608184"/>
            <a:ext cx="4842391" cy="2586662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5"/>
          <a:stretch>
            <a:fillRect/>
          </a:stretch>
        </p:blipFill>
        <p:spPr>
          <a:xfrm>
            <a:off x="4426170" y="4187950"/>
            <a:ext cx="4717830" cy="267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4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/>
              <a:t>Анализ модели: </a:t>
            </a:r>
            <a:r>
              <a:rPr lang="ru-RU" sz="2800" dirty="0"/>
              <a:t>отсутствие помехоустойчивого кодирования 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26207" y="1484240"/>
            <a:ext cx="4517818" cy="2466826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33647" y="4149080"/>
            <a:ext cx="4554068" cy="2420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647" y="3825913"/>
            <a:ext cx="9110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Резкое увеличение КБО при ухудшении отношения сигнал-шум (ОСШ).</a:t>
            </a:r>
          </a:p>
          <a:p>
            <a:endParaRPr lang="ru-RU" dirty="0"/>
          </a:p>
        </p:txBody>
      </p:sp>
      <p:pic>
        <p:nvPicPr>
          <p:cNvPr id="11" name="Рисунок 10"/>
          <p:cNvPicPr/>
          <p:nvPr/>
        </p:nvPicPr>
        <p:blipFill>
          <a:blip r:embed="rId4"/>
          <a:stretch>
            <a:fillRect/>
          </a:stretch>
        </p:blipFill>
        <p:spPr>
          <a:xfrm>
            <a:off x="4432394" y="1484239"/>
            <a:ext cx="4388078" cy="2466827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5"/>
          <a:stretch>
            <a:fillRect/>
          </a:stretch>
        </p:blipFill>
        <p:spPr>
          <a:xfrm>
            <a:off x="4517817" y="4149080"/>
            <a:ext cx="4450107" cy="242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3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/>
              <a:t>Анализ модели: изменение количества входных бит (2</a:t>
            </a:r>
            <a:r>
              <a:rPr lang="en-US" sz="2800" dirty="0" smtClean="0"/>
              <a:t>^14)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-17712" y="1305883"/>
            <a:ext cx="4612652" cy="2520029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365104"/>
            <a:ext cx="4708931" cy="2492896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4"/>
          <a:stretch>
            <a:fillRect/>
          </a:stretch>
        </p:blipFill>
        <p:spPr>
          <a:xfrm>
            <a:off x="4517817" y="1305884"/>
            <a:ext cx="4835781" cy="2520028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>
          <a:blip r:embed="rId5"/>
          <a:stretch>
            <a:fillRect/>
          </a:stretch>
        </p:blipFill>
        <p:spPr>
          <a:xfrm>
            <a:off x="4517818" y="4365105"/>
            <a:ext cx="4701800" cy="249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43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/>
              <a:t>Анализ модели:</a:t>
            </a:r>
            <a:r>
              <a:rPr lang="en-US" sz="2800" dirty="0" smtClean="0"/>
              <a:t> </a:t>
            </a:r>
            <a:r>
              <a:rPr lang="ru-RU" sz="2800" dirty="0"/>
              <a:t>изменение количества входных бит (2</a:t>
            </a:r>
            <a:r>
              <a:rPr lang="en-US" sz="2800" dirty="0" smtClean="0"/>
              <a:t>^1</a:t>
            </a:r>
            <a:r>
              <a:rPr lang="ru-RU" sz="2800" dirty="0" smtClean="0"/>
              <a:t>2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2722" y="1305883"/>
            <a:ext cx="4920491" cy="2627173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-17712" y="4293096"/>
            <a:ext cx="4796334" cy="2564904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4"/>
          <a:stretch>
            <a:fillRect/>
          </a:stretch>
        </p:blipFill>
        <p:spPr>
          <a:xfrm>
            <a:off x="4778622" y="1484784"/>
            <a:ext cx="4558759" cy="2448272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5"/>
          <a:stretch>
            <a:fillRect/>
          </a:stretch>
        </p:blipFill>
        <p:spPr>
          <a:xfrm>
            <a:off x="4799056" y="4365104"/>
            <a:ext cx="4696561" cy="249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4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/>
              <a:t>Анализ модели: </a:t>
            </a:r>
            <a:r>
              <a:rPr lang="ru-RU" sz="2800" dirty="0"/>
              <a:t>изменение количества входных бит (2</a:t>
            </a:r>
            <a:r>
              <a:rPr lang="en-US" sz="2800" dirty="0" smtClean="0"/>
              <a:t>^</a:t>
            </a:r>
            <a:r>
              <a:rPr lang="ru-RU" sz="2800" dirty="0" smtClean="0"/>
              <a:t>10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87474"/>
            <a:ext cx="4838673" cy="261759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293096"/>
            <a:ext cx="4781392" cy="2564904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4"/>
          <a:stretch>
            <a:fillRect/>
          </a:stretch>
        </p:blipFill>
        <p:spPr>
          <a:xfrm>
            <a:off x="4781392" y="1462717"/>
            <a:ext cx="4828854" cy="2542347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5"/>
          <a:stretch>
            <a:fillRect/>
          </a:stretch>
        </p:blipFill>
        <p:spPr>
          <a:xfrm>
            <a:off x="4781391" y="4370470"/>
            <a:ext cx="4588559" cy="248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4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количества входных бит (2</a:t>
            </a:r>
            <a:r>
              <a:rPr lang="en-US" sz="2800" dirty="0" smtClean="0"/>
              <a:t>^</a:t>
            </a:r>
            <a:r>
              <a:rPr lang="ru-RU" sz="2800" dirty="0" smtClean="0"/>
              <a:t>8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7948" y="1556792"/>
            <a:ext cx="4535530" cy="2398671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908" y="4408477"/>
            <a:ext cx="4517818" cy="2449523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548379" y="1556792"/>
            <a:ext cx="4507674" cy="2398671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57507" y="4408477"/>
            <a:ext cx="4496928" cy="244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4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количества входных бит (2</a:t>
            </a:r>
            <a:r>
              <a:rPr lang="en-US" sz="2800" dirty="0" smtClean="0"/>
              <a:t>^</a:t>
            </a:r>
            <a:r>
              <a:rPr lang="ru-RU" sz="2800" dirty="0" smtClean="0"/>
              <a:t>6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4773" y="1412776"/>
            <a:ext cx="4711243" cy="252435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437112"/>
            <a:ext cx="4693524" cy="24449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7664" y="3962295"/>
            <a:ext cx="4900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СПМ становится менее точной, КБО нестабилен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693524" y="1441937"/>
            <a:ext cx="4660963" cy="2520358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53131" y="4437112"/>
            <a:ext cx="4610395" cy="244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Зависимость КБО от количества входных бит ПРИ ОСШ 5 дБ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712229"/>
            <a:ext cx="7135094" cy="5122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592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/>
              <a:t>Анализ модели: изменение длины фильтра (2</a:t>
            </a:r>
            <a:r>
              <a:rPr lang="en-US" sz="2800" dirty="0" smtClean="0"/>
              <a:t>^11)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484784"/>
            <a:ext cx="4543050" cy="2448272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-40687" y="4293096"/>
            <a:ext cx="4843835" cy="2540659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651684" y="1512114"/>
            <a:ext cx="4514507" cy="2420942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667490" y="4322658"/>
            <a:ext cx="4502022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длины фильтра (2</a:t>
            </a:r>
            <a:r>
              <a:rPr lang="en-US" sz="2800" dirty="0" smtClean="0"/>
              <a:t>^</a:t>
            </a:r>
            <a:r>
              <a:rPr lang="ru-RU" sz="2800" dirty="0" smtClean="0"/>
              <a:t>9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35242" y="1628800"/>
            <a:ext cx="4800214" cy="252028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3482" y="4293096"/>
            <a:ext cx="4747871" cy="2564904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644007" y="1628800"/>
            <a:ext cx="4727327" cy="2520280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672403" y="4314256"/>
            <a:ext cx="4686474" cy="25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длины фильтра (2</a:t>
            </a:r>
            <a:r>
              <a:rPr lang="en-US" sz="2800" dirty="0" smtClean="0"/>
              <a:t>^</a:t>
            </a:r>
            <a:r>
              <a:rPr lang="ru-RU" sz="2800" dirty="0" smtClean="0"/>
              <a:t>3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8710" y="1412776"/>
            <a:ext cx="4661720" cy="2411148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-17712" y="4289648"/>
            <a:ext cx="4792337" cy="2541567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654225" y="1412776"/>
            <a:ext cx="4455238" cy="2411148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45021" y="4289648"/>
            <a:ext cx="4862207" cy="254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длины фильтра (2</a:t>
            </a:r>
            <a:r>
              <a:rPr lang="en-US" sz="2800" dirty="0" smtClean="0"/>
              <a:t>^</a:t>
            </a:r>
            <a:r>
              <a:rPr lang="ru-RU" sz="2800" dirty="0" smtClean="0"/>
              <a:t>2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2757" y="1412776"/>
            <a:ext cx="4530575" cy="2447278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474992"/>
            <a:ext cx="4432394" cy="2370796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355976" y="1414409"/>
            <a:ext cx="4510572" cy="2445645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355975" y="4486268"/>
            <a:ext cx="4382683" cy="235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длины фильтра (2</a:t>
            </a:r>
            <a:r>
              <a:rPr lang="en-US" sz="2800" dirty="0" smtClean="0"/>
              <a:t>^</a:t>
            </a:r>
            <a:r>
              <a:rPr lang="ru-RU" sz="2800" dirty="0" smtClean="0"/>
              <a:t>1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7712" y="1556791"/>
            <a:ext cx="4450106" cy="2369495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437112"/>
            <a:ext cx="4557366" cy="24084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35696" y="3926286"/>
            <a:ext cx="4773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Ускорение вычислений за счет ухудшения КБО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424772" y="1556790"/>
            <a:ext cx="4309061" cy="2369495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17817" y="4468851"/>
            <a:ext cx="4317361" cy="237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Зависимость КБО от </a:t>
            </a:r>
            <a:r>
              <a:rPr lang="ru-RU" dirty="0" smtClean="0"/>
              <a:t>длины фильтра ПРИ </a:t>
            </a:r>
            <a:r>
              <a:rPr lang="ru-RU" dirty="0"/>
              <a:t>ОСШ 5 дБ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015" y="2024753"/>
            <a:ext cx="6206605" cy="4608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622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/>
              <a:t>Анализ модели: изменение коэффициента сглаживания ФКПК (β = 0.1)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4209" y="1330310"/>
            <a:ext cx="4363903" cy="2314714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" y="4506296"/>
            <a:ext cx="4355976" cy="23517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576" y="3880429"/>
            <a:ext cx="8029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Малый β: Экономия полосы, но повышение чувствительности к синхронизации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378112" y="1330310"/>
            <a:ext cx="4388481" cy="2314714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17818" y="4539123"/>
            <a:ext cx="4345068" cy="23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4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коэффициента сглаживания ФКПК (β = </a:t>
            </a:r>
            <a:r>
              <a:rPr lang="ru-RU" sz="2800" dirty="0" smtClean="0"/>
              <a:t>0.9)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1331036"/>
            <a:ext cx="4324515" cy="2385996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437112"/>
            <a:ext cx="4411152" cy="238533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3822175"/>
            <a:ext cx="96514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Большойβ: Улучшение формы сигнала, но расширение полосы </a:t>
            </a:r>
            <a:r>
              <a:rPr lang="ru-RU" dirty="0" smtClean="0"/>
              <a:t>пропускания, улучшение КБО (около 10</a:t>
            </a:r>
            <a:r>
              <a:rPr lang="en-US" dirty="0" smtClean="0"/>
              <a:t>^(-4))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465585" y="1331036"/>
            <a:ext cx="4450264" cy="2385996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644008" y="4465040"/>
            <a:ext cx="4123640" cy="227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4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с начальными параметрами, </a:t>
            </a:r>
            <a:r>
              <a:rPr lang="ru-RU" sz="2800" dirty="0" smtClean="0"/>
              <a:t>два канала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7712" y="1412776"/>
            <a:ext cx="4564154" cy="2448272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-17712" y="4437113"/>
            <a:ext cx="4449572" cy="2408312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554299" y="1412776"/>
            <a:ext cx="4616741" cy="2448272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612351" y="4446784"/>
            <a:ext cx="4526097" cy="2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4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/>
              <a:t>Анализ модели: </a:t>
            </a:r>
            <a:r>
              <a:rPr lang="ru-RU" sz="2800" dirty="0"/>
              <a:t>отсутствие комбинационных </a:t>
            </a:r>
            <a:r>
              <a:rPr lang="ru-RU" sz="2800" dirty="0" smtClean="0"/>
              <a:t>составляющих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4410" y="1484784"/>
            <a:ext cx="4534080" cy="2448272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" y="4451843"/>
            <a:ext cx="4432394" cy="2406157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432394" y="1484784"/>
            <a:ext cx="4345908" cy="2376264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29669" y="4451843"/>
            <a:ext cx="4435477" cy="240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4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/>
              <a:t>Анализ модели: отсутствие </a:t>
            </a:r>
            <a:r>
              <a:rPr lang="ru-RU" sz="2800" dirty="0"/>
              <a:t>помехоустойчивого </a:t>
            </a:r>
            <a:r>
              <a:rPr lang="ru-RU" sz="2800" dirty="0" smtClean="0"/>
              <a:t>кодирования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7712" y="1412776"/>
            <a:ext cx="4418408" cy="2376264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581129"/>
            <a:ext cx="4249284" cy="2276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0823" y="3948989"/>
            <a:ext cx="80139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Появляются четко различимые комбинационные составляющие 2 и 3 порядка, </a:t>
            </a:r>
          </a:p>
          <a:p>
            <a:r>
              <a:rPr lang="ru-RU" dirty="0" smtClean="0"/>
              <a:t>негативно влияющие на КБО обоих каналов 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432394" y="1412776"/>
            <a:ext cx="4518076" cy="2376264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17818" y="4609965"/>
            <a:ext cx="4124116" cy="227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4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/>
              <a:t>Анализ модели: изменение относительной близости каналов (0.2 и 0.7</a:t>
            </a:r>
            <a:r>
              <a:rPr lang="en-US" sz="2800" dirty="0" smtClean="0"/>
              <a:t> </a:t>
            </a:r>
            <a:r>
              <a:rPr lang="ru-RU" sz="2800" dirty="0" smtClean="0"/>
              <a:t>нормированных к </a:t>
            </a:r>
            <a:r>
              <a:rPr lang="en-US" sz="2800" dirty="0" smtClean="0"/>
              <a:t>2*pi)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05884"/>
            <a:ext cx="4360706" cy="233914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437112"/>
            <a:ext cx="4483922" cy="2372761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404337" y="1305884"/>
            <a:ext cx="4392669" cy="2267132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17817" y="4437112"/>
            <a:ext cx="4187289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4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относительной близости каналов (0.2 и </a:t>
            </a:r>
            <a:r>
              <a:rPr lang="ru-RU" sz="2800" dirty="0" smtClean="0"/>
              <a:t>0.</a:t>
            </a:r>
            <a:r>
              <a:rPr lang="en-US" sz="2800" dirty="0" smtClean="0"/>
              <a:t>5 </a:t>
            </a:r>
            <a:r>
              <a:rPr lang="ru-RU" sz="2800" dirty="0"/>
              <a:t>нормированных к </a:t>
            </a:r>
            <a:r>
              <a:rPr lang="en-US" sz="2800" dirty="0"/>
              <a:t>2*pi)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7712" y="1412776"/>
            <a:ext cx="4452420" cy="2448272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725" y="4437112"/>
            <a:ext cx="4528247" cy="2409219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528971" y="1412776"/>
            <a:ext cx="4587539" cy="2448272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28972" y="4386445"/>
            <a:ext cx="4624360" cy="245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4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относительной близости каналов (0.2 и </a:t>
            </a:r>
            <a:r>
              <a:rPr lang="ru-RU" sz="2800" dirty="0" smtClean="0"/>
              <a:t>0.</a:t>
            </a:r>
            <a:r>
              <a:rPr lang="en-US" sz="2800" dirty="0" smtClean="0"/>
              <a:t>3 </a:t>
            </a:r>
            <a:r>
              <a:rPr lang="ru-RU" sz="2800" dirty="0"/>
              <a:t>нормированных к </a:t>
            </a:r>
            <a:r>
              <a:rPr lang="en-US" sz="2800" dirty="0"/>
              <a:t>2*pi)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26059" y="1412776"/>
            <a:ext cx="4438231" cy="2325136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-1" y="4509120"/>
            <a:ext cx="4464291" cy="2337211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517818" y="1415499"/>
            <a:ext cx="4309489" cy="2322413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17818" y="4437111"/>
            <a:ext cx="4518260" cy="240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4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относительной близости каналов (0.2 и </a:t>
            </a:r>
            <a:r>
              <a:rPr lang="ru-RU" sz="2800" dirty="0" smtClean="0"/>
              <a:t>0.</a:t>
            </a:r>
            <a:r>
              <a:rPr lang="en-US" sz="2800" dirty="0" smtClean="0"/>
              <a:t>235 </a:t>
            </a:r>
            <a:r>
              <a:rPr lang="ru-RU" sz="2800" dirty="0"/>
              <a:t>нормированных к </a:t>
            </a:r>
            <a:r>
              <a:rPr lang="en-US" sz="2800" dirty="0"/>
              <a:t>2*pi)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-17713" y="1412776"/>
            <a:ext cx="4250985" cy="2304256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581128"/>
            <a:ext cx="4236513" cy="2264477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4"/>
          <a:stretch>
            <a:fillRect/>
          </a:stretch>
        </p:blipFill>
        <p:spPr>
          <a:xfrm>
            <a:off x="4431486" y="1377407"/>
            <a:ext cx="4347323" cy="2339625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5"/>
          <a:stretch>
            <a:fillRect/>
          </a:stretch>
        </p:blipFill>
        <p:spPr>
          <a:xfrm>
            <a:off x="4406153" y="4565467"/>
            <a:ext cx="4350242" cy="228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6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/>
              <a:t>Анализ модели: изменение относительной близости каналов (0.2 и 0.</a:t>
            </a:r>
            <a:r>
              <a:rPr lang="en-US" sz="2800" dirty="0" smtClean="0"/>
              <a:t>23 </a:t>
            </a:r>
            <a:r>
              <a:rPr lang="ru-RU" sz="2800" dirty="0" smtClean="0"/>
              <a:t>нормированных к </a:t>
            </a:r>
            <a:r>
              <a:rPr lang="en-US" sz="2800" dirty="0" smtClean="0"/>
              <a:t>2*pi)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3120" y="1484784"/>
            <a:ext cx="4481444" cy="2376264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509120"/>
            <a:ext cx="4491833" cy="23669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416" y="3897922"/>
            <a:ext cx="9103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Чем ближе центральные частоты каналов тем больше их воздействие друг на друга, ухудшается КБО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464859" y="1463260"/>
            <a:ext cx="4597169" cy="2397787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92208" y="4544252"/>
            <a:ext cx="4346795" cy="231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2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Зависимость КБО от </a:t>
            </a:r>
            <a:r>
              <a:rPr lang="ru-RU" dirty="0"/>
              <a:t>относительной близости </a:t>
            </a:r>
            <a:r>
              <a:rPr lang="ru-RU" dirty="0" smtClean="0"/>
              <a:t>каналов при ОСШ  </a:t>
            </a:r>
            <a:r>
              <a:rPr lang="en-US" dirty="0" smtClean="0"/>
              <a:t>10</a:t>
            </a:r>
            <a:r>
              <a:rPr lang="ru-RU" dirty="0" smtClean="0"/>
              <a:t> дБ</a:t>
            </a:r>
            <a:endParaRPr lang="ru-RU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644241"/>
            <a:ext cx="7005936" cy="5071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874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</a:t>
            </a:r>
            <a:r>
              <a:rPr lang="en-US" sz="2800" dirty="0"/>
              <a:t> </a:t>
            </a:r>
            <a:r>
              <a:rPr lang="ru-RU" sz="2800" dirty="0"/>
              <a:t>изменение количества входных бит (2</a:t>
            </a:r>
            <a:r>
              <a:rPr lang="en-US" sz="2800" dirty="0" smtClean="0"/>
              <a:t>^1</a:t>
            </a:r>
            <a:r>
              <a:rPr lang="ru-RU" sz="2800" dirty="0" smtClean="0"/>
              <a:t>4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1412776"/>
            <a:ext cx="4641969" cy="252028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28575" y="4365104"/>
            <a:ext cx="4641340" cy="2492896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641967" y="1412776"/>
            <a:ext cx="4699103" cy="2520280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641967" y="4365104"/>
            <a:ext cx="4799958" cy="249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2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</a:t>
            </a:r>
            <a:r>
              <a:rPr lang="en-US" sz="2800" dirty="0"/>
              <a:t> </a:t>
            </a:r>
            <a:r>
              <a:rPr lang="ru-RU" sz="2800" dirty="0"/>
              <a:t>изменение количества входных бит (2</a:t>
            </a:r>
            <a:r>
              <a:rPr lang="en-US" sz="2800" dirty="0" smtClean="0"/>
              <a:t>^1</a:t>
            </a:r>
            <a:r>
              <a:rPr lang="ru-RU" sz="2800" dirty="0" smtClean="0"/>
              <a:t>2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1628800"/>
            <a:ext cx="4393325" cy="2376264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437112"/>
            <a:ext cx="4409918" cy="2420888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522409" y="1628800"/>
            <a:ext cx="4406260" cy="2376264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22409" y="4437112"/>
            <a:ext cx="4687820" cy="242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2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</a:t>
            </a:r>
            <a:r>
              <a:rPr lang="en-US" sz="2800" dirty="0"/>
              <a:t> </a:t>
            </a:r>
            <a:r>
              <a:rPr lang="ru-RU" sz="2800" dirty="0"/>
              <a:t>изменение количества входных бит (2</a:t>
            </a:r>
            <a:r>
              <a:rPr lang="en-US" sz="2800" dirty="0" smtClean="0"/>
              <a:t>^1</a:t>
            </a:r>
            <a:r>
              <a:rPr lang="ru-RU" sz="2800" dirty="0" smtClean="0"/>
              <a:t>0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4772" y="1330492"/>
            <a:ext cx="4375909" cy="238654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509121"/>
            <a:ext cx="4412120" cy="2348880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514551" y="1330492"/>
            <a:ext cx="4446412" cy="2386540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23872" y="4509120"/>
            <a:ext cx="4526211" cy="234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2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</a:t>
            </a:r>
            <a:r>
              <a:rPr lang="en-US" sz="2800" dirty="0"/>
              <a:t> </a:t>
            </a:r>
            <a:r>
              <a:rPr lang="ru-RU" sz="2800" dirty="0"/>
              <a:t>изменение количества входных бит (2</a:t>
            </a:r>
            <a:r>
              <a:rPr lang="en-US" sz="2800" dirty="0" smtClean="0"/>
              <a:t>^</a:t>
            </a:r>
            <a:r>
              <a:rPr lang="ru-RU" sz="2800" dirty="0" smtClean="0"/>
              <a:t>8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412776"/>
            <a:ext cx="4335206" cy="2304256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509120"/>
            <a:ext cx="4315744" cy="2348880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300083" y="1412776"/>
            <a:ext cx="4307388" cy="2304256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17818" y="4509120"/>
            <a:ext cx="4091620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2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</a:t>
            </a:r>
            <a:r>
              <a:rPr lang="en-US" sz="2800" dirty="0"/>
              <a:t> </a:t>
            </a:r>
            <a:r>
              <a:rPr lang="ru-RU" sz="2800" dirty="0"/>
              <a:t>изменение количества входных бит (2</a:t>
            </a:r>
            <a:r>
              <a:rPr lang="en-US" sz="2800" dirty="0" smtClean="0"/>
              <a:t>^</a:t>
            </a:r>
            <a:r>
              <a:rPr lang="ru-RU" sz="2800" dirty="0" smtClean="0"/>
              <a:t>6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24608" y="1534522"/>
            <a:ext cx="4570170" cy="2470541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24608" y="4365104"/>
            <a:ext cx="4595740" cy="2481227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620348" y="1534521"/>
            <a:ext cx="4682074" cy="2470541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620348" y="4365104"/>
            <a:ext cx="4598541" cy="248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2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Зависимость КБО </a:t>
            </a:r>
            <a:r>
              <a:rPr lang="ru-RU" dirty="0"/>
              <a:t>от количества входных </a:t>
            </a:r>
            <a:r>
              <a:rPr lang="ru-RU" dirty="0" smtClean="0"/>
              <a:t>бит </a:t>
            </a:r>
            <a:r>
              <a:rPr lang="ru-RU" dirty="0"/>
              <a:t>ПРИ ОСШ 5 дБ</a:t>
            </a:r>
            <a:endParaRPr lang="ru-RU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308" y="1700808"/>
            <a:ext cx="6685942" cy="4602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679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</a:t>
            </a:r>
            <a:r>
              <a:rPr lang="ru-RU" sz="2800" dirty="0" smtClean="0"/>
              <a:t>длины фильтра (2</a:t>
            </a:r>
            <a:r>
              <a:rPr lang="en-US" sz="2800" dirty="0" smtClean="0"/>
              <a:t>^14)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1532628"/>
            <a:ext cx="4517819" cy="2398864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6805" y="4437112"/>
            <a:ext cx="4506382" cy="2420888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4"/>
          <a:stretch>
            <a:fillRect/>
          </a:stretch>
        </p:blipFill>
        <p:spPr>
          <a:xfrm>
            <a:off x="4432394" y="1532628"/>
            <a:ext cx="4525714" cy="2398864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5"/>
          <a:stretch>
            <a:fillRect/>
          </a:stretch>
        </p:blipFill>
        <p:spPr>
          <a:xfrm>
            <a:off x="4517818" y="4437112"/>
            <a:ext cx="4379889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2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длины фильтра (2</a:t>
            </a:r>
            <a:r>
              <a:rPr lang="en-US" sz="2800" dirty="0" smtClean="0"/>
              <a:t>^13)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7713" y="1412776"/>
            <a:ext cx="4353009" cy="2304256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-1" y="4581129"/>
            <a:ext cx="4344395" cy="2276872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4"/>
          <a:stretch>
            <a:fillRect/>
          </a:stretch>
        </p:blipFill>
        <p:spPr>
          <a:xfrm>
            <a:off x="4286686" y="1412776"/>
            <a:ext cx="4425708" cy="2304256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5"/>
          <a:stretch>
            <a:fillRect/>
          </a:stretch>
        </p:blipFill>
        <p:spPr>
          <a:xfrm>
            <a:off x="4432394" y="4565105"/>
            <a:ext cx="4280000" cy="222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2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длины фильтра (2</a:t>
            </a:r>
            <a:r>
              <a:rPr lang="en-US" sz="2800" dirty="0" smtClean="0"/>
              <a:t>^11)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7712" y="1484300"/>
            <a:ext cx="4694052" cy="2448756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-1" y="4365105"/>
            <a:ext cx="4806341" cy="2481590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517818" y="1474991"/>
            <a:ext cx="4507626" cy="2458065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15670" y="4365105"/>
            <a:ext cx="4633124" cy="248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2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длины фильтра (2</a:t>
            </a:r>
            <a:r>
              <a:rPr lang="en-US" sz="2800" dirty="0" smtClean="0"/>
              <a:t>^9)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428750"/>
            <a:ext cx="4320131" cy="2288282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24857" y="4509120"/>
            <a:ext cx="4426972" cy="2350150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320130" y="1428750"/>
            <a:ext cx="4212309" cy="2297025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451829" y="4527739"/>
            <a:ext cx="4350593" cy="233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2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длины фильтра (2</a:t>
            </a:r>
            <a:r>
              <a:rPr lang="en-US" sz="2800" dirty="0" smtClean="0"/>
              <a:t>^3)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7712" y="1484784"/>
            <a:ext cx="4844254" cy="2592288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-17712" y="4365105"/>
            <a:ext cx="4726800" cy="2492896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517818" y="1498630"/>
            <a:ext cx="4945052" cy="2578442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709088" y="4365106"/>
            <a:ext cx="4642381" cy="249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2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длины фильтра (2</a:t>
            </a:r>
            <a:r>
              <a:rPr lang="en-US" sz="2800" dirty="0" smtClean="0"/>
              <a:t>^2)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7712" y="1457324"/>
            <a:ext cx="4432889" cy="2331716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-1" y="4653136"/>
            <a:ext cx="4370417" cy="2240414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370416" y="1457324"/>
            <a:ext cx="4359655" cy="2331716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370416" y="4653136"/>
            <a:ext cx="4248472" cy="22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2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длины фильтра (2</a:t>
            </a:r>
            <a:r>
              <a:rPr lang="en-US" sz="2800" dirty="0" smtClean="0"/>
              <a:t>^1)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1392656"/>
            <a:ext cx="4358205" cy="2324376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-17713" y="4509120"/>
            <a:ext cx="4507445" cy="2372217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432394" y="1419441"/>
            <a:ext cx="4452164" cy="2297591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17818" y="4509120"/>
            <a:ext cx="4322185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2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Зависимость КБО от длины фильтра ПРИ ОСШ </a:t>
            </a:r>
            <a:r>
              <a:rPr lang="en-US" dirty="0" smtClean="0"/>
              <a:t>6</a:t>
            </a:r>
            <a:r>
              <a:rPr lang="ru-RU" dirty="0" smtClean="0"/>
              <a:t> </a:t>
            </a:r>
            <a:r>
              <a:rPr lang="ru-RU" dirty="0"/>
              <a:t>дБ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84784"/>
            <a:ext cx="7313018" cy="5262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671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</a:t>
            </a:r>
            <a:r>
              <a:rPr lang="ru-RU" sz="2800" dirty="0" smtClean="0"/>
              <a:t>коэффициента сглаживания (0.1)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7712" y="1484784"/>
            <a:ext cx="4451722" cy="2304256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-17713" y="4509120"/>
            <a:ext cx="4486455" cy="2348880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283968" y="1484784"/>
            <a:ext cx="4293885" cy="2304256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434009" y="4532456"/>
            <a:ext cx="4144229" cy="220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2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dirty="0"/>
              <a:t>Анализ модели: изменение коэффициента сглаживания (</a:t>
            </a:r>
            <a:r>
              <a:rPr lang="ru-RU" sz="2800" dirty="0" smtClean="0"/>
              <a:t>0.9)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17712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 </a:t>
            </a:r>
            <a:r>
              <a:rPr lang="ru-RU" dirty="0" err="1" smtClean="0"/>
              <a:t>передискретизацией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432394" y="936552"/>
            <a:ext cx="453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</a:t>
            </a:r>
            <a:r>
              <a:rPr lang="ru-RU" dirty="0" err="1" smtClean="0"/>
              <a:t>передискретизации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633" y="1635692"/>
            <a:ext cx="4433257" cy="2369371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1633" y="4725145"/>
            <a:ext cx="4582770" cy="2132856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517818" y="1635692"/>
            <a:ext cx="4491015" cy="2369371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4669067" y="4639445"/>
            <a:ext cx="4188515" cy="230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2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Проведенные тесты позволят оптимизировать параметры системы когнитивного радио для работы в условиях интерференции и шумов. Наибольшего внимания заслуживают: выбор длины фильтра корня приподнятого косинуса, количество выборок на символ в ФКПК, коэффициента сглаживания ФКПК и применение помехоустойчивого кодирования. </a:t>
            </a:r>
          </a:p>
          <a:p>
            <a:r>
              <a:rPr lang="ru-RU" dirty="0"/>
              <a:t>Так же результаты позволяют пронаблюдать условия совместного функционирования нескольких систем в одной полосе частот.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633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Код </a:t>
            </a:r>
            <a:r>
              <a:rPr lang="en-US" dirty="0" err="1" smtClean="0"/>
              <a:t>Matlab</a:t>
            </a:r>
            <a:r>
              <a:rPr lang="en-US" dirty="0" smtClean="0"/>
              <a:t> </a:t>
            </a:r>
            <a:r>
              <a:rPr lang="ru-RU" dirty="0" smtClean="0"/>
              <a:t>использованный при анализе модели: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29184"/>
            <a:ext cx="7416824" cy="540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748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Код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ru-RU" dirty="0"/>
              <a:t>использованный при анализе модели: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060848"/>
            <a:ext cx="8691789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732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Код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ru-RU" dirty="0"/>
              <a:t>использованный при анализе модели: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84784"/>
            <a:ext cx="7103081" cy="5373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396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Код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ru-RU" dirty="0"/>
              <a:t>использованный при анализе модели: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8672893" cy="484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396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Код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ru-RU" dirty="0"/>
              <a:t>использованный при анализе модели: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80" y="1520516"/>
            <a:ext cx="7622456" cy="5337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396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Код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ru-RU" dirty="0"/>
              <a:t>использованный при анализе модели: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44824"/>
            <a:ext cx="8514453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412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886</Words>
  <Application>Microsoft Office PowerPoint</Application>
  <PresentationFormat>Экран (4:3)</PresentationFormat>
  <Paragraphs>155</Paragraphs>
  <Slides>52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3" baseType="lpstr">
      <vt:lpstr>Тема Office</vt:lpstr>
      <vt:lpstr>Анализ совместного функционирования радиосистем в одной полосе частот</vt:lpstr>
      <vt:lpstr>Схема радиолинии</vt:lpstr>
      <vt:lpstr>Цель исследования</vt:lpstr>
      <vt:lpstr>Начальные параметры системы:</vt:lpstr>
      <vt:lpstr>Анализ модели: с начальными параметрами, один канал</vt:lpstr>
      <vt:lpstr>Анализ модели: отсутствие помехоустойчивого кодирования </vt:lpstr>
      <vt:lpstr>Анализ модели: изменение количества входных бит (2^14)</vt:lpstr>
      <vt:lpstr>Анализ модели: изменение количества входных бит (2^12)</vt:lpstr>
      <vt:lpstr>Анализ модели: изменение количества входных бит (2^10)</vt:lpstr>
      <vt:lpstr>Анализ модели: изменение количества входных бит (2^8)</vt:lpstr>
      <vt:lpstr>Анализ модели: изменение количества входных бит (2^6)</vt:lpstr>
      <vt:lpstr>Зависимость КБО от количества входных бит ПРИ ОСШ 5 дБ</vt:lpstr>
      <vt:lpstr>Анализ модели: изменение длины фильтра (2^11)</vt:lpstr>
      <vt:lpstr>Анализ модели: изменение длины фильтра (2^9)</vt:lpstr>
      <vt:lpstr>Анализ модели: изменение длины фильтра (2^3)</vt:lpstr>
      <vt:lpstr>Анализ модели: изменение длины фильтра (2^2)</vt:lpstr>
      <vt:lpstr>Анализ модели: изменение длины фильтра (2^1)</vt:lpstr>
      <vt:lpstr>Зависимость КБО от длины фильтра ПРИ ОСШ 5 дБ</vt:lpstr>
      <vt:lpstr>Анализ модели: изменение коэффициента сглаживания ФКПК (β = 0.1)</vt:lpstr>
      <vt:lpstr>Анализ модели: изменение коэффициента сглаживания ФКПК (β = 0.9)</vt:lpstr>
      <vt:lpstr>Анализ модели: с начальными параметрами, два канала</vt:lpstr>
      <vt:lpstr>Анализ модели: отсутствие комбинационных составляющих</vt:lpstr>
      <vt:lpstr>Анализ модели: отсутствие помехоустойчивого кодирования</vt:lpstr>
      <vt:lpstr>Анализ модели: изменение относительной близости каналов (0.2 и 0.7 нормированных к 2*pi)</vt:lpstr>
      <vt:lpstr>Анализ модели: изменение относительной близости каналов (0.2 и 0.5 нормированных к 2*pi)</vt:lpstr>
      <vt:lpstr>Анализ модели: изменение относительной близости каналов (0.2 и 0.3 нормированных к 2*pi)</vt:lpstr>
      <vt:lpstr>Анализ модели: изменение относительной близости каналов (0.2 и 0.235 нормированных к 2*pi)</vt:lpstr>
      <vt:lpstr>Анализ модели: изменение относительной близости каналов (0.2 и 0.23 нормированных к 2*pi)</vt:lpstr>
      <vt:lpstr>Зависимость КБО от относительной близости каналов при ОСШ  10 дБ</vt:lpstr>
      <vt:lpstr>Анализ модели: изменение количества входных бит (2^14)</vt:lpstr>
      <vt:lpstr>Анализ модели: изменение количества входных бит (2^12)</vt:lpstr>
      <vt:lpstr>Анализ модели: изменение количества входных бит (2^10)</vt:lpstr>
      <vt:lpstr>Анализ модели: изменение количества входных бит (2^8)</vt:lpstr>
      <vt:lpstr>Анализ модели: изменение количества входных бит (2^6)</vt:lpstr>
      <vt:lpstr>Зависимость КБО от количества входных бит ПРИ ОСШ 5 дБ</vt:lpstr>
      <vt:lpstr>Анализ модели: изменение длины фильтра (2^14)</vt:lpstr>
      <vt:lpstr>Анализ модели: изменение длины фильтра (2^13)</vt:lpstr>
      <vt:lpstr>Анализ модели: изменение длины фильтра (2^11)</vt:lpstr>
      <vt:lpstr>Анализ модели: изменение длины фильтра (2^9)</vt:lpstr>
      <vt:lpstr>Анализ модели: изменение длины фильтра (2^3)</vt:lpstr>
      <vt:lpstr>Анализ модели: изменение длины фильтра (2^2)</vt:lpstr>
      <vt:lpstr>Анализ модели: изменение длины фильтра (2^1)</vt:lpstr>
      <vt:lpstr>Зависимость КБО от длины фильтра ПРИ ОСШ 6 дБ</vt:lpstr>
      <vt:lpstr>Анализ модели: изменение коэффициента сглаживания (0.1)</vt:lpstr>
      <vt:lpstr>Анализ модели: изменение коэффициента сглаживания (0.9)</vt:lpstr>
      <vt:lpstr>Заключение</vt:lpstr>
      <vt:lpstr>Код Matlab использованный при анализе модели:</vt:lpstr>
      <vt:lpstr>Код Matlab использованный при анализе модели:</vt:lpstr>
      <vt:lpstr>Код Matlab использованный при анализе модели:</vt:lpstr>
      <vt:lpstr>Код Matlab использованный при анализе модели:</vt:lpstr>
      <vt:lpstr>Код Matlab использованный при анализе модели:</vt:lpstr>
      <vt:lpstr>Код Matlab использованный при анализе модели: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совместного функционирования радиосистем в одной полосе частот</dc:title>
  <dc:creator>Иван</dc:creator>
  <cp:lastModifiedBy>Иван</cp:lastModifiedBy>
  <cp:revision>20</cp:revision>
  <dcterms:created xsi:type="dcterms:W3CDTF">2025-04-05T15:54:22Z</dcterms:created>
  <dcterms:modified xsi:type="dcterms:W3CDTF">2025-04-05T18:59:12Z</dcterms:modified>
</cp:coreProperties>
</file>